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89b9c067fc9461b" /><Relationship Type="http://schemas.openxmlformats.org/officeDocument/2006/relationships/extended-properties" Target="/docProps/app.xml" Id="Rbe21f051e45b43e3" /><Relationship Type="http://schemas.openxmlformats.org/officeDocument/2006/relationships/officeDocument" Target="/ppt/presentation.xml" Id="R1edf40c162b8437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763a53c112445e9"/>
  </p:sldMasterIdLst>
  <p:notesMasterIdLst>
    <p:notesMasterId xmlns:r="http://schemas.openxmlformats.org/officeDocument/2006/relationships" r:id="R354004d8cae74254"/>
  </p:notesMasterIdLst>
  <p:sldIdLst>
    <p:sldId xmlns:r="http://schemas.openxmlformats.org/officeDocument/2006/relationships" id="256" r:id="R9e65e195a3d44c09"/>
    <p:sldId xmlns:r="http://schemas.openxmlformats.org/officeDocument/2006/relationships" id="257" r:id="R88db380c84684fbb"/>
    <p:sldId xmlns:r="http://schemas.openxmlformats.org/officeDocument/2006/relationships" id="258" r:id="R626cddcda37a40e0"/>
    <p:sldId xmlns:r="http://schemas.openxmlformats.org/officeDocument/2006/relationships" id="259" r:id="R6c4c2e2ed16e4d38"/>
    <p:sldId xmlns:r="http://schemas.openxmlformats.org/officeDocument/2006/relationships" id="260" r:id="Ra686b56229994aee"/>
    <p:sldId xmlns:r="http://schemas.openxmlformats.org/officeDocument/2006/relationships" id="261" r:id="R9a4f108b38064dc6"/>
    <p:sldId xmlns:r="http://schemas.openxmlformats.org/officeDocument/2006/relationships" id="262" r:id="R9eaea7ea684d4b94"/>
    <p:sldId xmlns:r="http://schemas.openxmlformats.org/officeDocument/2006/relationships" id="263" r:id="Rdb10644f627844bb"/>
    <p:sldId xmlns:r="http://schemas.openxmlformats.org/officeDocument/2006/relationships" id="264" r:id="R491ab61ada8a4142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832305e41aa468e" /><Relationship Type="http://schemas.openxmlformats.org/officeDocument/2006/relationships/slideMaster" Target="/ppt/slideMasters/slideMaster1.xml" Id="R9763a53c112445e9" /><Relationship Type="http://schemas.openxmlformats.org/officeDocument/2006/relationships/notesMaster" Target="/ppt/notesMasters/notesMaster1.xml" Id="R354004d8cae74254" /><Relationship Type="http://schemas.openxmlformats.org/officeDocument/2006/relationships/presProps" Target="/ppt/presProps.xml" Id="R2155a2c5bcbe46fe" /><Relationship Type="http://schemas.openxmlformats.org/officeDocument/2006/relationships/tableStyles" Target="/ppt/tableStyles.xml" Id="R845785d102914349" /><Relationship Type="http://schemas.openxmlformats.org/officeDocument/2006/relationships/slide" Target="/ppt/slides/slide1.xml" Id="R9e65e195a3d44c09" /><Relationship Type="http://schemas.openxmlformats.org/officeDocument/2006/relationships/slide" Target="/ppt/slides/slide2.xml" Id="R88db380c84684fbb" /><Relationship Type="http://schemas.openxmlformats.org/officeDocument/2006/relationships/slide" Target="/ppt/slides/slide3.xml" Id="R626cddcda37a40e0" /><Relationship Type="http://schemas.openxmlformats.org/officeDocument/2006/relationships/slide" Target="/ppt/slides/slide4.xml" Id="R6c4c2e2ed16e4d38" /><Relationship Type="http://schemas.openxmlformats.org/officeDocument/2006/relationships/slide" Target="/ppt/slides/slide5.xml" Id="Ra686b56229994aee" /><Relationship Type="http://schemas.openxmlformats.org/officeDocument/2006/relationships/slide" Target="/ppt/slides/slide6.xml" Id="R9a4f108b38064dc6" /><Relationship Type="http://schemas.openxmlformats.org/officeDocument/2006/relationships/slide" Target="/ppt/slides/slide7.xml" Id="R9eaea7ea684d4b94" /><Relationship Type="http://schemas.openxmlformats.org/officeDocument/2006/relationships/slide" Target="/ppt/slides/slide8.xml" Id="Rdb10644f627844bb" /><Relationship Type="http://schemas.openxmlformats.org/officeDocument/2006/relationships/slide" Target="/ppt/slides/slide9.xml" Id="R491ab61ada8a414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266f9ba38b94a6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2cd013399dd44ff" /><Relationship Type="http://schemas.openxmlformats.org/officeDocument/2006/relationships/notesMaster" Target="/ppt/notesMasters/notesMaster1.xml" Id="Rb8adb55a7d1243e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4b454eab1514889" /><Relationship Type="http://schemas.openxmlformats.org/officeDocument/2006/relationships/notesMaster" Target="/ppt/notesMasters/notesMaster1.xml" Id="Rdb9f81a296f34d1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6672a36a2e144a1" /><Relationship Type="http://schemas.openxmlformats.org/officeDocument/2006/relationships/notesMaster" Target="/ppt/notesMasters/notesMaster1.xml" Id="R92610db9391c407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32482ae26c44628" /><Relationship Type="http://schemas.openxmlformats.org/officeDocument/2006/relationships/notesMaster" Target="/ppt/notesMasters/notesMaster1.xml" Id="Rcf1dab27666640e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36599268665405a" /><Relationship Type="http://schemas.openxmlformats.org/officeDocument/2006/relationships/notesMaster" Target="/ppt/notesMasters/notesMaster1.xml" Id="R3279c9a290d6407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096919907fe4293" /><Relationship Type="http://schemas.openxmlformats.org/officeDocument/2006/relationships/notesMaster" Target="/ppt/notesMasters/notesMaster1.xml" Id="Rd618c1500fa24fb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cbe51197f9a4e05" /><Relationship Type="http://schemas.openxmlformats.org/officeDocument/2006/relationships/notesMaster" Target="/ppt/notesMasters/notesMaster1.xml" Id="Rfb45f94b224c435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fdddc9a1a2d4458" /><Relationship Type="http://schemas.openxmlformats.org/officeDocument/2006/relationships/notesMaster" Target="/ppt/notesMasters/notesMaster1.xml" Id="R8b39553c467e4b1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1889cb558b040dd" /><Relationship Type="http://schemas.openxmlformats.org/officeDocument/2006/relationships/notesMaster" Target="/ppt/notesMasters/notesMaster1.xml" Id="R600174a30dfe447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cc0f10f31a545c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2687ed010a34708" /><Relationship Type="http://schemas.openxmlformats.org/officeDocument/2006/relationships/slideLayout" Target="/ppt/slideLayouts/slideLayout1.xml" Id="R52cf6e3c990048c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2cf6e3c990048c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1306475a674143" /><Relationship Type="http://schemas.openxmlformats.org/officeDocument/2006/relationships/image" Target="/ppt/media/image.jpeg" Id="R6ee5176d14da4daf" /><Relationship Type="http://schemas.openxmlformats.org/officeDocument/2006/relationships/image" Target="/ppt/media/image2.jpeg" Id="Rc9335befe79e4857" /><Relationship Type="http://schemas.openxmlformats.org/officeDocument/2006/relationships/image" Target="/ppt/media/image3.jpeg" Id="R88f1af8a3a854b48" /><Relationship Type="http://schemas.openxmlformats.org/officeDocument/2006/relationships/image" Target="/ppt/media/image4.jpeg" Id="Raacdca6fe8d3415e" /><Relationship Type="http://schemas.openxmlformats.org/officeDocument/2006/relationships/notesSlide" Target="/ppt/notesSlides/notesSlide1.xml" Id="R0a5754dbeb1d486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0d65ca5ccf402e" /><Relationship Type="http://schemas.openxmlformats.org/officeDocument/2006/relationships/notesSlide" Target="/ppt/notesSlides/notesSlide2.xml" Id="R957115192e54406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27b1f9e6de42b3" /><Relationship Type="http://schemas.openxmlformats.org/officeDocument/2006/relationships/notesSlide" Target="/ppt/notesSlides/notesSlide3.xml" Id="Re8dbaeba402a4b8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f6de0e60854df0" /><Relationship Type="http://schemas.openxmlformats.org/officeDocument/2006/relationships/notesSlide" Target="/ppt/notesSlides/notesSlide4.xml" Id="Rfb7bb1681112479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bd223b91dd4bf7" /><Relationship Type="http://schemas.openxmlformats.org/officeDocument/2006/relationships/image" Target="/ppt/media/image5.jpeg" Id="Rc9c6fc540f6c44ce" /><Relationship Type="http://schemas.openxmlformats.org/officeDocument/2006/relationships/image" Target="/ppt/media/image6.jpeg" Id="R50a7fda003dc4b16" /><Relationship Type="http://schemas.openxmlformats.org/officeDocument/2006/relationships/image" Target="/ppt/media/image7.jpeg" Id="Rba512c8c5f0a4a72" /><Relationship Type="http://schemas.openxmlformats.org/officeDocument/2006/relationships/notesSlide" Target="/ppt/notesSlides/notesSlide5.xml" Id="R9ea7254b37e449b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7c8c71f3634517" /><Relationship Type="http://schemas.openxmlformats.org/officeDocument/2006/relationships/notesSlide" Target="/ppt/notesSlides/notesSlide6.xml" Id="Rab3dbbea4b43425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edc31e290841c0" /><Relationship Type="http://schemas.openxmlformats.org/officeDocument/2006/relationships/notesSlide" Target="/ppt/notesSlides/notesSlide7.xml" Id="R522d72f1acdd4ca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0fe586a895439a" /><Relationship Type="http://schemas.openxmlformats.org/officeDocument/2006/relationships/notesSlide" Target="/ppt/notesSlides/notesSlide8.xml" Id="R22673f752a78482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7c48fc4bfc4e16" /><Relationship Type="http://schemas.openxmlformats.org/officeDocument/2006/relationships/notesSlide" Target="/ppt/notesSlides/notesSlide9.xml" Id="R6c976c7a7c11494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815E6BC-1F48-4E2C-806F-B2C552C7B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PORTFOLIO PROJECT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E27DD0-A0E9-4812-87E1-C8081D654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14450"/>
            <a:ext cx="6762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950" b="1">
                <a:solidFill>
                  <a:srgbClr val="111111"/>
                </a:solidFill>
              </a:defRPr>
            </a:pPr>
            <a:r>
              <a:rPr sz="4950" b="1">
                <a:solidFill>
                  <a:srgbClr val="111111"/>
                </a:solidFill>
              </a:rPr>
              <a:t>EcommerceShop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D8B036-0D57-4F3F-BB7B-AB4B87709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14750"/>
            <a:ext cx="5429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555555"/>
                </a:solidFill>
              </a:defRPr>
            </a:pPr>
            <a:r>
              <a:rPr sz="1950">
                <a:solidFill>
                  <a:srgbClr val="555555"/>
                </a:solidFill>
              </a:rPr>
              <a:t>A full-stack shopping application with product browsing, cart management, checkout, orders, authentication, and backend tests.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3EC34B-EB19-4753-9112-448D2B064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2930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55555"/>
                </a:solidFill>
              </a:defRPr>
            </a:pPr>
            <a:r>
              <a:rPr sz="1350">
                <a:solidFill>
                  <a:srgbClr val="555555"/>
                </a:solidFill>
              </a:rPr>
              <a:t>React + Spring Boot + JPA + H2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394265-57AE-4693-8B61-41ED4A07E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0"/>
            <a:ext cx="44577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e5176d14da4da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58150" y="666750"/>
            <a:ext cx="1676400" cy="1676400"/>
          </a:xfrm>
          <a:prstGeom xmlns:a="http://schemas.openxmlformats.org/drawingml/2006/main" prst="rect">
            <a:avLst/>
          </a:prstGeom>
        </p:spPr>
      </p:pic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335befe79e485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25050" y="666750"/>
            <a:ext cx="1676400" cy="1676400"/>
          </a:xfrm>
          <a:prstGeom xmlns:a="http://schemas.openxmlformats.org/drawingml/2006/main" prst="rect">
            <a:avLst/>
          </a:prstGeom>
        </p:spPr>
      </p:pic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f1af8a3a854b4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58150" y="2533650"/>
            <a:ext cx="1676400" cy="1676400"/>
          </a:xfrm>
          <a:prstGeom xmlns:a="http://schemas.openxmlformats.org/drawingml/2006/main" prst="rect">
            <a:avLst/>
          </a:prstGeom>
        </p:spPr>
      </p:pic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cdca6fe8d3415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25050" y="2533650"/>
            <a:ext cx="1676400" cy="16764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D36709-010C-486C-A447-DE19DEF86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83870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Real catalog assets from the app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2BEB65-C3B3-4409-9629-C292F1E5D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5257800"/>
            <a:ext cx="3238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55555"/>
                </a:solidFill>
              </a:defRPr>
            </a:pPr>
            <a:r>
              <a:rPr sz="1500">
                <a:solidFill>
                  <a:srgbClr val="555555"/>
                </a:solidFill>
              </a:rPr>
              <a:t>The project is not just an API exercise. It includes customer-facing screens and real product data seeded into the backend.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CD33D7-88AF-4847-B7E6-E6B314DBA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>
                <a:solidFill>
                  <a:srgbClr val="555555"/>
                </a:solidFill>
              </a:defRPr>
            </a:pPr>
            <a:r>
              <a:rPr sz="1125">
                <a:solidFill>
                  <a:srgbClr val="555555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54061241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E871C87-E53B-4E77-8766-DC85BED7A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8191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The project covers the core ecommerce journey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D9E065-E39D-414C-AD0A-A2B2728C3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52CA3A-D3E6-432E-A911-C4BEA4CBE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685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F7A8C"/>
                </a:solidFill>
              </a:defRPr>
            </a:pPr>
            <a:r>
              <a:rPr sz="2850" b="1">
                <a:solidFill>
                  <a:srgbClr val="1F7A8C"/>
                </a:solidFill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8D358A-81CB-47AB-A357-A8805D4FD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05100"/>
            <a:ext cx="314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Sign in or register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D5A3C6-B3F5-4DD5-ABAD-F95702AB4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0"/>
            <a:ext cx="31432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55555"/>
                </a:solidFill>
              </a:defRPr>
            </a:pPr>
            <a:r>
              <a:rPr sz="1575">
                <a:solidFill>
                  <a:srgbClr val="555555"/>
                </a:solidFill>
              </a:rPr>
              <a:t>Users can create an account and authenticate with Basic Auth against the Spring Boot backend.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980FE5-2661-4ECB-8DB3-DC5947FDE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000250"/>
            <a:ext cx="685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F7A8C"/>
                </a:solidFill>
              </a:defRPr>
            </a:pPr>
            <a:r>
              <a:rPr sz="2850" b="1">
                <a:solidFill>
                  <a:srgbClr val="1F7A8C"/>
                </a:solidFill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B0171B-6EBF-4882-8585-4DCFC29C7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705100"/>
            <a:ext cx="314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Browse products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F6AB59-4382-4F7C-A74E-7E71E907D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238500"/>
            <a:ext cx="31432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55555"/>
                </a:solidFill>
              </a:defRPr>
            </a:pPr>
            <a:r>
              <a:rPr sz="1575">
                <a:solidFill>
                  <a:srgbClr val="555555"/>
                </a:solidFill>
              </a:rPr>
              <a:t>The frontend loads seeded products from public API endpoints and displays images, prices, ratings, and stock.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22E1DC-5F9F-454F-A6DE-9FCEE7F03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000250"/>
            <a:ext cx="685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F7A8C"/>
                </a:solidFill>
              </a:defRPr>
            </a:pPr>
            <a:r>
              <a:rPr sz="2850" b="1">
                <a:solidFill>
                  <a:srgbClr val="1F7A8C"/>
                </a:solidFill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BDB870-A8E1-4BBB-AD07-1C4710B46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705100"/>
            <a:ext cx="314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Add to cart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E5AF1B-ACEB-42D6-AE6D-E402CFB7E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238500"/>
            <a:ext cx="31432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55555"/>
                </a:solidFill>
              </a:defRPr>
            </a:pPr>
            <a:r>
              <a:rPr sz="1575">
                <a:solidFill>
                  <a:srgbClr val="555555"/>
                </a:solidFill>
              </a:rPr>
              <a:t>The cart service validates users, products, and quantities before saving cart items.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C7075C-A8D2-4601-85E2-EF0AC5046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86250"/>
            <a:ext cx="685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F7A8C"/>
                </a:solidFill>
              </a:defRPr>
            </a:pPr>
            <a:r>
              <a:rPr sz="2850" b="1">
                <a:solidFill>
                  <a:srgbClr val="1F7A8C"/>
                </a:solidFill>
              </a:rPr>
              <a:t>04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28BA01-18CD-49C7-A49E-8F818644A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91100"/>
            <a:ext cx="781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Checkout and orders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7D4B8B-673D-42E1-BB61-431A04C90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0"/>
            <a:ext cx="78105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55555"/>
                </a:solidFill>
              </a:defRPr>
            </a:pPr>
            <a:r>
              <a:rPr sz="1575">
                <a:solidFill>
                  <a:srgbClr val="555555"/>
                </a:solidFill>
              </a:rPr>
              <a:t>Checkout creates an order, reduces stock, clears the cart, and lets users review or delete eligible orders.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5764A0-66B2-40CB-8D2C-B0E672CA5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>
                <a:solidFill>
                  <a:srgbClr val="555555"/>
                </a:solidFill>
              </a:defRPr>
            </a:pPr>
            <a:r>
              <a:rPr sz="1125">
                <a:solidFill>
                  <a:srgbClr val="555555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89242262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D3BF9F4-46E4-42AD-A121-1E1E6B8E9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8858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The architecture separates UI, API, business logic, and data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95FF17-4DDB-4935-86A4-D2A5711BD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22860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FDED0B-C00E-4E4A-9E85-9FC673ABF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809750"/>
            <a:ext cx="22860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A67692-E393-4154-A158-064CC11F1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09750"/>
            <a:ext cx="22860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F165D4-682A-4776-AD97-ADDC64D35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809750"/>
            <a:ext cx="22860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A68E73-1F06-47A1-ADDF-B23C28DE0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43125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React frontend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25B532-5185-4026-8FF2-DCE9EFC75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1571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55555"/>
                </a:solidFill>
              </a:defRPr>
            </a:pPr>
            <a:r>
              <a:rPr sz="1500">
                <a:solidFill>
                  <a:srgbClr val="555555"/>
                </a:solidFill>
              </a:rPr>
              <a:t>Pages, state, routing, API client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3B9835-209C-4C6E-B930-8AF1BB8BC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143125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Controllers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FB6907-1BA8-4437-8341-9A50E3C2F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724150"/>
            <a:ext cx="1619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55555"/>
                </a:solidFill>
              </a:defRPr>
            </a:pPr>
            <a:r>
              <a:rPr sz="1500">
                <a:solidFill>
                  <a:srgbClr val="555555"/>
                </a:solidFill>
              </a:rPr>
              <a:t>REST endpoints and HTTP responses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4A6DD2-A58A-477F-886F-1FE510D06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143125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Services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F2169F-13A6-41FB-90BA-93D604060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724150"/>
            <a:ext cx="1619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55555"/>
                </a:solidFill>
              </a:defRPr>
            </a:pPr>
            <a:r>
              <a:rPr sz="1500">
                <a:solidFill>
                  <a:srgbClr val="555555"/>
                </a:solidFill>
              </a:rPr>
              <a:t>Business rules for carts, orders, users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6E073F-7C32-4718-AD09-2590FB241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143125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Repositories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35C76C-9AF4-446B-BECD-83D454380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724150"/>
            <a:ext cx="1619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55555"/>
                </a:solidFill>
              </a:defRPr>
            </a:pPr>
            <a:r>
              <a:rPr sz="1500">
                <a:solidFill>
                  <a:srgbClr val="555555"/>
                </a:solidFill>
              </a:rPr>
              <a:t>JPA access to H2 database tables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B567FD-91D5-4C2C-AA5B-30E7459B9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609850"/>
            <a:ext cx="571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8C"/>
          </a:solidFill>
          <a:ln xmlns:a="http://schemas.openxmlformats.org/drawingml/2006/main" w="0">
            <a:solidFill>
              <a:srgbClr val="1F7A8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1C6935-9C9F-464C-A9E6-4EC001AA6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609850"/>
            <a:ext cx="571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8C"/>
          </a:solidFill>
          <a:ln xmlns:a="http://schemas.openxmlformats.org/drawingml/2006/main" w="0">
            <a:solidFill>
              <a:srgbClr val="1F7A8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F255E9-146F-4DCC-A75B-0FF1AD20E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609850"/>
            <a:ext cx="571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8C"/>
          </a:solidFill>
          <a:ln xmlns:a="http://schemas.openxmlformats.org/drawingml/2006/main" w="0">
            <a:solidFill>
              <a:srgbClr val="1F7A8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2F4E04-0D91-4371-AC74-41FAD58FF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7675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Why this matters in an interview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421E0F-7D75-41B9-B001-5497C07A3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72050"/>
            <a:ext cx="685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555555"/>
                </a:solidFill>
              </a:defRPr>
            </a:pPr>
            <a:r>
              <a:rPr sz="1800">
                <a:solidFill>
                  <a:srgbClr val="555555"/>
                </a:solidFill>
              </a:rPr>
              <a:t>Each layer has a clear job. That makes the code easier to test, easier to explain, and safer to change.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AA4F4D3-5603-45DA-BDC5-44BDE0883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>
                <a:solidFill>
                  <a:srgbClr val="555555"/>
                </a:solidFill>
              </a:defRPr>
            </a:pPr>
            <a:r>
              <a:rPr sz="1125">
                <a:solidFill>
                  <a:srgbClr val="555555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99175418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C374BC4-3FCC-4403-9CB7-7FCAA9AF8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8096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The backend models real ecommerce rules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348A90-7037-4987-9EBB-0F116C0C1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33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3A3B1F-2DE5-4D3D-AC9D-AB00B5AD0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5829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11111"/>
                </a:solidFill>
              </a:defRPr>
            </a:pPr>
            <a:r>
              <a:rPr sz="1650">
                <a:solidFill>
                  <a:srgbClr val="111111"/>
                </a:solidFill>
              </a:rPr>
              <a:t>Products have names, descriptions, prices, stock, and image URLs.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313CAC-1E0C-43FA-A0F8-FB1197CBF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6D5BEA-DB44-4211-8B75-965B12CAE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00300"/>
            <a:ext cx="5829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11111"/>
                </a:solidFill>
              </a:defRPr>
            </a:pPr>
            <a:r>
              <a:rPr sz="1650">
                <a:solidFill>
                  <a:srgbClr val="111111"/>
                </a:solidFill>
              </a:rPr>
              <a:t>Carts belong to users and contain cart items with quantities.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276AC6-AAB7-49F8-9048-B19671FED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19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15A020-CAFF-4EEE-8E62-5EADF982B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43250"/>
            <a:ext cx="5829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11111"/>
                </a:solidFill>
              </a:defRPr>
            </a:pPr>
            <a:r>
              <a:rPr sz="1650">
                <a:solidFill>
                  <a:srgbClr val="111111"/>
                </a:solidFill>
              </a:rPr>
              <a:t>Checkout creates orders and order items from the cart.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4C2F62-6F6E-4377-94BE-A4CF0A089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624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A188AE-9C88-4C40-B7BF-42665EEE1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86200"/>
            <a:ext cx="5829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11111"/>
                </a:solidFill>
              </a:defRPr>
            </a:pPr>
            <a:r>
              <a:rPr sz="1650">
                <a:solidFill>
                  <a:srgbClr val="111111"/>
                </a:solidFill>
              </a:rPr>
              <a:t>Order status controls later behavior: pending, paid, delivered, or cancelled.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7F908B-81FE-456A-8959-76795612D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600200"/>
            <a:ext cx="4095750" cy="3028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F79D0B-8AD5-469F-A21D-D04814E86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943100"/>
            <a:ext cx="333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Important business behavior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C955E7-1382-4422-BB1D-578AEB664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552700"/>
            <a:ext cx="32385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555555"/>
                </a:solidFill>
              </a:defRPr>
            </a:pPr>
            <a:r>
              <a:rPr sz="1725">
                <a:solidFill>
                  <a:srgbClr val="555555"/>
                </a:solidFill>
              </a:rPr>
              <a:t>Checkout reduces product stock. Cancelling or deleting a pending order restores stock. Invalid quantities and missing records return clear application errors.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1F4C5E-7280-4396-811E-92DC3E580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038600"/>
            <a:ext cx="314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F7A8C"/>
                </a:solidFill>
              </a:defRPr>
            </a:pPr>
            <a:r>
              <a:rPr sz="1425" b="1">
                <a:solidFill>
                  <a:srgbClr val="1F7A8C"/>
                </a:solidFill>
              </a:rPr>
              <a:t>This shows more than CRUD: it handles state changes and protects data consistency.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12551C-2630-4FBA-8678-3D8603534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>
                <a:solidFill>
                  <a:srgbClr val="555555"/>
                </a:solidFill>
              </a:defRPr>
            </a:pPr>
            <a:r>
              <a:rPr sz="1125">
                <a:solidFill>
                  <a:srgbClr val="555555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4255321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52B01A5-B3AE-447A-81A2-440604D80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9429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The frontend gives the backend a real user experience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c6fc540f6c44c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0050" y="1619250"/>
            <a:ext cx="2381250" cy="2381250"/>
          </a:xfrm>
          <a:prstGeom xmlns:a="http://schemas.openxmlformats.org/drawingml/2006/main" prst="rect">
            <a:avLst/>
          </a:prstGeom>
        </p:spPr>
      </p:pic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a7fda003dc4b1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028950" y="1619250"/>
            <a:ext cx="2381250" cy="2381250"/>
          </a:xfrm>
          <a:prstGeom xmlns:a="http://schemas.openxmlformats.org/drawingml/2006/main" prst="rect">
            <a:avLst/>
          </a:prstGeom>
        </p:spPr>
      </p:pic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512c8c5f0a4a7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57850" y="1619250"/>
            <a:ext cx="2381250" cy="23812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851144-4089-4AAD-AA5E-7DCC26201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619250"/>
            <a:ext cx="29718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31D192-C155-41AD-B927-430A1560D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924050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React pages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9C0F70-D7BA-4880-8583-5D3B4A6D6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476500"/>
            <a:ext cx="21907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555555"/>
                </a:solidFill>
              </a:defRPr>
            </a:pPr>
            <a:r>
              <a:rPr sz="1800">
                <a:solidFill>
                  <a:srgbClr val="555555"/>
                </a:solidFill>
              </a:rPr>
              <a:t>Sign in</a:t>
            </a:r>
          </a:p>
          <a:p xmlns:a="http://schemas.openxmlformats.org/drawingml/2006/main">
            <a:pPr>
              <a:defRPr sz="1800">
                <a:solidFill>
                  <a:srgbClr val="555555"/>
                </a:solidFill>
              </a:defRPr>
            </a:pPr>
            <a:r>
              <a:rPr sz="1800">
                <a:solidFill>
                  <a:srgbClr val="555555"/>
                </a:solidFill>
              </a:rPr>
              <a:t>Catalog</a:t>
            </a:r>
          </a:p>
          <a:p xmlns:a="http://schemas.openxmlformats.org/drawingml/2006/main">
            <a:pPr>
              <a:defRPr sz="1800">
                <a:solidFill>
                  <a:srgbClr val="555555"/>
                </a:solidFill>
              </a:defRPr>
            </a:pPr>
            <a:r>
              <a:rPr sz="1800">
                <a:solidFill>
                  <a:srgbClr val="555555"/>
                </a:solidFill>
              </a:rPr>
              <a:t>Checkout</a:t>
            </a:r>
          </a:p>
          <a:p xmlns:a="http://schemas.openxmlformats.org/drawingml/2006/main">
            <a:pPr>
              <a:defRPr sz="1800">
                <a:solidFill>
                  <a:srgbClr val="555555"/>
                </a:solidFill>
              </a:defRPr>
            </a:pPr>
            <a:r>
              <a:rPr sz="1800">
                <a:solidFill>
                  <a:srgbClr val="555555"/>
                </a:solidFill>
              </a:rPr>
              <a:t>Orders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A326E1-5C07-45F7-8907-735E0AC31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1965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55555"/>
                </a:solidFill>
              </a:defRPr>
            </a:pPr>
            <a:r>
              <a:rPr sz="1875">
                <a:solidFill>
                  <a:srgbClr val="555555"/>
                </a:solidFill>
              </a:rPr>
              <a:t>The API client keeps HTTP calls in one place, while components focus on page state and user actions.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598918-197C-4C81-897F-18540A3B9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>
                <a:solidFill>
                  <a:srgbClr val="555555"/>
                </a:solidFill>
              </a:defRPr>
            </a:pPr>
            <a:r>
              <a:rPr sz="1125">
                <a:solidFill>
                  <a:srgbClr val="555555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96177986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ED815AD-FA11-4E1F-B98D-C0489559C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8096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Security is simple, visible, and testable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F2B104-68D4-4D72-931E-09DDBDF55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57350"/>
            <a:ext cx="33147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A0991D-1EC7-41EF-8873-CE4C30FE6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657350"/>
            <a:ext cx="33147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3FB2EF-B181-470B-8F47-687E7D3B4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657350"/>
            <a:ext cx="33147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F77F45-5BA0-4C2C-8CA9-ABFB9216D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1930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Public access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AFED90-8AA8-4DB7-9F57-18A3AAE75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47950"/>
            <a:ext cx="2476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55555"/>
                </a:solidFill>
              </a:defRPr>
            </a:pPr>
            <a:r>
              <a:rPr sz="1650">
                <a:solidFill>
                  <a:srgbClr val="555555"/>
                </a:solidFill>
              </a:rPr>
              <a:t>Product listing and user registration are open endpoints.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5F16F5-E670-4AC7-97D3-85F3B38D0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019300"/>
            <a:ext cx="266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Authenticated user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986F7E-102B-49AB-A665-C73D0328E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647950"/>
            <a:ext cx="2476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55555"/>
                </a:solidFill>
              </a:defRPr>
            </a:pPr>
            <a:r>
              <a:rPr sz="1650">
                <a:solidFill>
                  <a:srgbClr val="555555"/>
                </a:solidFill>
              </a:rPr>
              <a:t>Cart, checkout, order history, and /auth/me require a valid login.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E0DEE6-5B39-4016-AB3D-B352F74A4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01930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Admin role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BDE4A6-4A54-4106-89AE-F2FEAC615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647950"/>
            <a:ext cx="2381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55555"/>
                </a:solidFill>
              </a:defRPr>
            </a:pPr>
            <a:r>
              <a:rPr sz="1650">
                <a:solidFill>
                  <a:srgbClr val="555555"/>
                </a:solidFill>
              </a:rPr>
              <a:t>Admin endpoints manage users, products, and order status.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F73B23-5E99-4CBD-8812-DB61D7E3B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0"/>
            <a:ext cx="704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F7A8C"/>
                </a:solidFill>
              </a:defRPr>
            </a:pPr>
            <a:r>
              <a:rPr sz="2100" b="1">
                <a:solidFill>
                  <a:srgbClr val="1F7A8C"/>
                </a:solidFill>
              </a:rPr>
              <a:t>Passwords are stored with BCrypt hashes, not plain text.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254507-F53E-4B87-B825-C543CBEC2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>
                <a:solidFill>
                  <a:srgbClr val="555555"/>
                </a:solidFill>
              </a:defRPr>
            </a:pPr>
            <a:r>
              <a:rPr sz="1125">
                <a:solidFill>
                  <a:srgbClr val="555555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82944913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91925A8-60FA-4502-B19E-63A0B5875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8096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The tests prove the important paths work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92229B-533C-4EFE-8E21-9AA6E181B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242887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89AE8C-1743-4635-BF0D-CB30F0CA6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57400"/>
            <a:ext cx="19716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11111"/>
                </a:solidFill>
              </a:defRPr>
            </a:pPr>
            <a:r>
              <a:rPr sz="3450" b="1">
                <a:solidFill>
                  <a:srgbClr val="111111"/>
                </a:solidFill>
              </a:rPr>
              <a:t>17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68E762-37AF-41AF-92B3-0444706A6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43200"/>
            <a:ext cx="19716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55555"/>
                </a:solidFill>
              </a:defRPr>
            </a:pPr>
            <a:r>
              <a:rPr sz="1500">
                <a:solidFill>
                  <a:srgbClr val="555555"/>
                </a:solidFill>
              </a:rPr>
              <a:t>JUnit tests pass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D35DA4-C84D-4FA7-A636-68F43CC68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09750"/>
            <a:ext cx="242887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E17BE7-0A3F-4E46-9D7A-136AD95EC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057400"/>
            <a:ext cx="19716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11111"/>
                </a:solidFill>
              </a:defRPr>
            </a:pPr>
            <a:r>
              <a:rPr sz="3450" b="1">
                <a:solidFill>
                  <a:srgbClr val="111111"/>
                </a:solidFill>
              </a:rPr>
              <a:t>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848E00-630E-4584-B082-6CBDF6CF1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743200"/>
            <a:ext cx="19716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55555"/>
                </a:solidFill>
              </a:defRPr>
            </a:pPr>
            <a:r>
              <a:rPr sz="1500">
                <a:solidFill>
                  <a:srgbClr val="555555"/>
                </a:solidFill>
              </a:rPr>
              <a:t>Spring Boot integration tests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CEF538-73E0-415D-91B2-039CA4D01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809750"/>
            <a:ext cx="242887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F45DD4-AB08-43B0-8F7E-1F33A61BB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57400"/>
            <a:ext cx="19716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11111"/>
                </a:solidFill>
              </a:defRPr>
            </a:pPr>
            <a:r>
              <a:rPr sz="3450" b="1">
                <a:solidFill>
                  <a:srgbClr val="111111"/>
                </a:solidFill>
              </a:rPr>
              <a:t>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79A182-F7D9-4B9A-A7BE-16C2AF2CF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743200"/>
            <a:ext cx="19716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55555"/>
                </a:solidFill>
              </a:defRPr>
            </a:pPr>
            <a:r>
              <a:rPr sz="1500">
                <a:solidFill>
                  <a:srgbClr val="555555"/>
                </a:solidFill>
              </a:rPr>
              <a:t>Controller areas covered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9E69A3-995E-4384-9A69-5F938BFF9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809750"/>
            <a:ext cx="242887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3ED8D4-DE46-4332-AEB5-D53EDED31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057400"/>
            <a:ext cx="19716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11111"/>
                </a:solidFill>
              </a:defRPr>
            </a:pPr>
            <a:r>
              <a:rPr sz="3450" b="1">
                <a:solidFill>
                  <a:srgbClr val="111111"/>
                </a:solidFill>
              </a:rPr>
              <a:t>42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EF68E2-7573-4227-ACBD-5C82903E4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743200"/>
            <a:ext cx="19716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55555"/>
                </a:solidFill>
              </a:defRPr>
            </a:pPr>
            <a:r>
              <a:rPr sz="1500">
                <a:solidFill>
                  <a:srgbClr val="555555"/>
                </a:solidFill>
              </a:rPr>
              <a:t>Seeded catalog products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3058FE-88BA-4EC7-909E-53763E447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719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Testing approach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C6B9CD-0FA9-4746-9E0A-62FDD2CD1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86300"/>
            <a:ext cx="9144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555555"/>
                </a:solidFill>
              </a:defRPr>
            </a:pPr>
            <a:r>
              <a:rPr sz="1725">
                <a:solidFill>
                  <a:srgbClr val="555555"/>
                </a:solidFill>
              </a:rPr>
              <a:t>Unit tests use Mockito for isolated service behavior. Integration tests use Spring Boot with an in-memory H2 database, so they exercise real services and repositories without touching local app data.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3A6105-630A-45C3-8622-6318DF8C5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>
                <a:solidFill>
                  <a:srgbClr val="555555"/>
                </a:solidFill>
              </a:defRPr>
            </a:pPr>
            <a:r>
              <a:rPr sz="1125">
                <a:solidFill>
                  <a:srgbClr val="555555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26103174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B15B499-7AEC-4284-BC10-425A55231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9144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This project is a practical foundation, not a finished store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FB9A68-029D-41CF-80D5-E285A57EF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00200"/>
            <a:ext cx="342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What it already demonstrates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46AACE-984B-4574-A4A5-8B11FFC05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66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002B7A-EBAB-40F5-B32D-44BD9C1EA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90750"/>
            <a:ext cx="4686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11111"/>
                </a:solidFill>
              </a:defRPr>
            </a:pPr>
            <a:r>
              <a:rPr sz="1650">
                <a:solidFill>
                  <a:srgbClr val="111111"/>
                </a:solidFill>
              </a:rPr>
              <a:t>Full-stack feature delivery from UI to database.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A6B26B-F6C6-497C-A790-8DF71A47C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956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0EE56E-6439-4CF3-A80D-2CAFEDBD1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19400"/>
            <a:ext cx="4686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11111"/>
                </a:solidFill>
              </a:defRPr>
            </a:pPr>
            <a:r>
              <a:rPr sz="1650">
                <a:solidFill>
                  <a:srgbClr val="111111"/>
                </a:solidFill>
              </a:rPr>
              <a:t>REST API design with DTOs and validation.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B4DC3F-C5A8-49C0-A67B-2B28C9947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24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0C2E03-36A4-44E6-9995-3D104A497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48050"/>
            <a:ext cx="4686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11111"/>
                </a:solidFill>
              </a:defRPr>
            </a:pPr>
            <a:r>
              <a:rPr sz="1650">
                <a:solidFill>
                  <a:srgbClr val="111111"/>
                </a:solidFill>
              </a:rPr>
              <a:t>Authentication, password hashing, and role-based access.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518533-001D-4A22-91D3-F58657C4B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529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45B9E3-9EB5-4ECB-BE1B-822B9243A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76700"/>
            <a:ext cx="4686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11111"/>
                </a:solidFill>
              </a:defRPr>
            </a:pPr>
            <a:r>
              <a:rPr sz="1650">
                <a:solidFill>
                  <a:srgbClr val="111111"/>
                </a:solidFill>
              </a:rPr>
              <a:t>Automated tests for business rules and user flows.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263C01-93DD-4439-90FA-154744922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00200"/>
            <a:ext cx="3714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What I would improve next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11A6FE-A5F3-4A0A-898C-9006FB6C7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66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518B59-7ACD-4E5E-BAE0-ED72375DC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190750"/>
            <a:ext cx="4686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11111"/>
                </a:solidFill>
              </a:defRPr>
            </a:pPr>
            <a:r>
              <a:rPr sz="1650">
                <a:solidFill>
                  <a:srgbClr val="111111"/>
                </a:solidFill>
              </a:rPr>
              <a:t>Add frontend component tests and end-to-end tests.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E7EAE3-7E69-4B21-8DD6-EA91FF52F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8956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B6DA2B-AE42-41DF-B71D-48A111368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819400"/>
            <a:ext cx="4686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11111"/>
                </a:solidFill>
              </a:defRPr>
            </a:pPr>
            <a:r>
              <a:rPr sz="1650">
                <a:solidFill>
                  <a:srgbClr val="111111"/>
                </a:solidFill>
              </a:rPr>
              <a:t>Move from Basic Auth to token or session-based auth.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0F5B65-AA6E-40B9-AA19-7B6D13AB2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524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0BA1AB-067D-498E-AFF1-C3C9DB36C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448050"/>
            <a:ext cx="4686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11111"/>
                </a:solidFill>
              </a:defRPr>
            </a:pPr>
            <a:r>
              <a:rPr sz="1650">
                <a:solidFill>
                  <a:srgbClr val="111111"/>
                </a:solidFill>
              </a:rPr>
              <a:t>Add payment integration and order confirmation email.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77BFA2-6EEF-437B-A32D-4BCB936F3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1529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B21D426-3579-4A55-970F-DE44F86C9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076700"/>
            <a:ext cx="4686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11111"/>
                </a:solidFill>
              </a:defRPr>
            </a:pPr>
            <a:r>
              <a:rPr sz="1650">
                <a:solidFill>
                  <a:srgbClr val="111111"/>
                </a:solidFill>
              </a:rPr>
              <a:t>Add admin screens for product and order management.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934CCD9-BA44-4DE2-BBD3-9D0D067CC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>
                <a:solidFill>
                  <a:srgbClr val="555555"/>
                </a:solidFill>
              </a:defRPr>
            </a:pPr>
            <a:r>
              <a:rPr sz="1125">
                <a:solidFill>
                  <a:srgbClr val="555555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44806524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5765197-6A7E-4C3B-87F5-2204894DE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8382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The main takeaway for an employer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8A3327-E982-4EBC-BFA7-61F278E52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91440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11111"/>
                </a:solidFill>
              </a:defRPr>
            </a:pPr>
            <a:r>
              <a:rPr sz="3300" b="1">
                <a:solidFill>
                  <a:srgbClr val="111111"/>
                </a:solidFill>
              </a:rPr>
              <a:t>I can build a complete feature across the stack, explain the architecture clearly, and write tests around the behavior that matters.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56FECE-F1DC-479B-B5E0-45D970B17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33875"/>
            <a:ext cx="113919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597458-2D25-4E78-B18E-AFC7E458E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10100"/>
            <a:ext cx="1028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11111"/>
                </a:solidFill>
              </a:defRPr>
            </a:pPr>
            <a:r>
              <a:rPr sz="1800">
                <a:solidFill>
                  <a:srgbClr val="111111"/>
                </a:solidFill>
              </a:rPr>
              <a:t>Best demo path: register or sign in, add products to the cart, checkout, then show the backend tests and the password-hashing test.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976C42-F935-4177-B655-5DA863285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>
                <a:solidFill>
                  <a:srgbClr val="555555"/>
                </a:solidFill>
              </a:defRPr>
            </a:pPr>
            <a:r>
              <a:rPr sz="1125">
                <a:solidFill>
                  <a:srgbClr val="555555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46058471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2026-08-04T12:41:57.7080000Z</dcterms:created>
  <dcterms:modified xsi:type="dcterms:W3CDTF">2026-08-04T12:41:57.7080000Z</dcterms:modified>
</coreProperties>
</file>