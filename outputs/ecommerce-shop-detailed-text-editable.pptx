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18D1E64-C93C-4F24-97EF-79A302E011C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0000" bIns="9000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hyperlink" Target="file:///./data/ecommerce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>
            <a:off x="3429000" y="1371600"/>
            <a:ext cx="7315200" cy="8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4650" spc="-1" strike="noStrike">
                <a:solidFill>
                  <a:srgbClr val="111111"/>
                </a:solidFill>
                <a:latin typeface="Calibri"/>
                <a:ea typeface="Calibri"/>
              </a:rPr>
              <a:t>EcommerceShop</a:t>
            </a:r>
            <a:endParaRPr b="0" lang="en-US" sz="4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399960" y="1924200"/>
            <a:ext cx="72385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1828800" y="3067200"/>
            <a:ext cx="822960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111111"/>
                </a:solidFill>
                <a:latin typeface="Calibri"/>
                <a:ea typeface="Calibri"/>
              </a:rPr>
              <a:t>A full-stack ecommerce application built with React, Spring Boot, JPA, H2 Database, Maven, and JUnit.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8686800" y="1276200"/>
            <a:ext cx="23810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8686800" y="1886040"/>
            <a:ext cx="21902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8686800" y="2295360"/>
            <a:ext cx="21902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8686800" y="2705040"/>
            <a:ext cx="21902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8686800" y="3114720"/>
            <a:ext cx="21902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8686800" y="3933720"/>
            <a:ext cx="21902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399960" y="5905440"/>
            <a:ext cx="43812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11277720" y="6286680"/>
            <a:ext cx="514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555555"/>
                </a:solidFill>
                <a:latin typeface="Calibri"/>
                <a:ea typeface="Calibri"/>
              </a:rPr>
              <a:t>01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/>
          <p:nvPr/>
        </p:nvSpPr>
        <p:spPr>
          <a:xfrm>
            <a:off x="399960" y="1162080"/>
            <a:ext cx="85723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11277720" y="6286680"/>
            <a:ext cx="514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555555"/>
                </a:solidFill>
                <a:latin typeface="Calibri"/>
                <a:ea typeface="Calibri"/>
              </a:rPr>
              <a:t>02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914400" y="2286000"/>
            <a:ext cx="9829800" cy="20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111111"/>
              </a:buClr>
              <a:buFont typeface="Wingdings" charset="2"/>
              <a:buChar char=""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111111"/>
                </a:solidFill>
                <a:latin typeface="Calibri"/>
                <a:ea typeface="Calibri"/>
              </a:rPr>
              <a:t>The goal was to build features across the UI, API, service layer, database, and tests.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111111"/>
                </a:solidFill>
                <a:latin typeface="Calibri"/>
                <a:ea typeface="Calibri"/>
              </a:rPr>
              <a:t>I took a real user workflow, break it into backend and frontend responsibilities, implement the logic, and test the important behavior.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399960" y="4876920"/>
            <a:ext cx="904824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950400" y="421200"/>
            <a:ext cx="6503760" cy="48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80" spc="-1" strike="noStrike">
                <a:solidFill>
                  <a:srgbClr val="111111"/>
                </a:solidFill>
                <a:latin typeface="Calibri"/>
                <a:ea typeface="Calibri"/>
              </a:rPr>
              <a:t>The project shows full-stack ownership</a:t>
            </a:r>
            <a:endParaRPr b="0" lang="en-US" sz="30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/>
          <p:nvPr/>
        </p:nvSpPr>
        <p:spPr>
          <a:xfrm>
            <a:off x="950400" y="318960"/>
            <a:ext cx="10993320" cy="5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80" spc="-1" strike="noStrike">
                <a:solidFill>
                  <a:srgbClr val="111111"/>
                </a:solidFill>
                <a:latin typeface="Calibri"/>
                <a:ea typeface="Calibri"/>
              </a:rPr>
              <a:t>The application covers the core shop workflow</a:t>
            </a:r>
            <a:endParaRPr b="0" lang="en-US" sz="3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457920" y="1104120"/>
            <a:ext cx="85723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11277720" y="6286680"/>
            <a:ext cx="514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555555"/>
                </a:solidFill>
                <a:latin typeface="Calibri"/>
                <a:ea typeface="Calibri"/>
              </a:rPr>
              <a:t>03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1828800" y="1828800"/>
            <a:ext cx="6629040" cy="34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111111"/>
                </a:solidFill>
                <a:latin typeface="Calibri"/>
                <a:ea typeface="Calibri"/>
              </a:rPr>
              <a:t>1. Register or sign 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111111"/>
                </a:solidFill>
                <a:latin typeface="Calibri"/>
                <a:ea typeface="Calibri"/>
              </a:rPr>
              <a:t>2. Browse the catalog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111111"/>
                </a:solidFill>
                <a:latin typeface="Calibri"/>
                <a:ea typeface="Calibri"/>
              </a:rPr>
              <a:t>3. Add products to the cart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111111"/>
                </a:solidFill>
                <a:latin typeface="Calibri"/>
                <a:ea typeface="Calibri"/>
              </a:rPr>
              <a:t>4. Checkout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111111"/>
                </a:solidFill>
                <a:latin typeface="Calibri"/>
                <a:ea typeface="Calibri"/>
              </a:rPr>
              <a:t>5. Review orders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>
            <a:off x="939960" y="324000"/>
            <a:ext cx="914364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80" spc="-1" strike="noStrike">
                <a:solidFill>
                  <a:srgbClr val="111111"/>
                </a:solidFill>
                <a:latin typeface="Calibri"/>
                <a:ea typeface="Calibri"/>
              </a:rPr>
              <a:t>The tech stack is intentionally standard</a:t>
            </a:r>
            <a:endParaRPr b="0" lang="en-US" sz="3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399960" y="1162080"/>
            <a:ext cx="85723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11277720" y="6286680"/>
            <a:ext cx="514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555555"/>
                </a:solidFill>
                <a:latin typeface="Calibri"/>
                <a:ea typeface="Calibri"/>
              </a:rPr>
              <a:t>04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914400" y="2209680"/>
            <a:ext cx="1828800" cy="990720"/>
          </a:xfrm>
          <a:prstGeom prst="rect">
            <a:avLst/>
          </a:prstGeom>
          <a:solidFill>
            <a:srgbClr val="eded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969480" y="2419200"/>
            <a:ext cx="19807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11111"/>
                </a:solidFill>
                <a:latin typeface="Calibri"/>
                <a:ea typeface="Calibri"/>
              </a:rPr>
              <a:t>     </a:t>
            </a:r>
            <a:r>
              <a:rPr b="1" lang="en-US" sz="2700" spc="-1" strike="noStrike">
                <a:solidFill>
                  <a:srgbClr val="111111"/>
                </a:solidFill>
                <a:latin typeface="Calibri"/>
                <a:ea typeface="Calibri"/>
              </a:rPr>
              <a:t>React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09480" y="2933640"/>
            <a:ext cx="19807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3200400" y="2209680"/>
            <a:ext cx="1879560" cy="990720"/>
          </a:xfrm>
          <a:prstGeom prst="rect">
            <a:avLst/>
          </a:prstGeom>
          <a:solidFill>
            <a:srgbClr val="eded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3558240" y="2419200"/>
            <a:ext cx="19807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11111"/>
                </a:solidFill>
                <a:latin typeface="Calibri"/>
                <a:ea typeface="Calibri"/>
              </a:rPr>
              <a:t>   </a:t>
            </a:r>
            <a:r>
              <a:rPr b="1" lang="en-US" sz="2700" spc="-1" strike="noStrike">
                <a:solidFill>
                  <a:srgbClr val="111111"/>
                </a:solidFill>
                <a:latin typeface="Calibri"/>
                <a:ea typeface="Calibri"/>
              </a:rPr>
              <a:t>Vite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3486240" y="2933640"/>
            <a:ext cx="19807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5505840" y="2209680"/>
            <a:ext cx="2171160" cy="990720"/>
          </a:xfrm>
          <a:prstGeom prst="rect">
            <a:avLst/>
          </a:prstGeom>
          <a:solidFill>
            <a:srgbClr val="eded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5727600" y="2419200"/>
            <a:ext cx="239976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11111"/>
                </a:solidFill>
                <a:latin typeface="Calibri"/>
                <a:ea typeface="Calibri"/>
              </a:rPr>
              <a:t>Spring Boot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6362640" y="2933640"/>
            <a:ext cx="19807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8074800" y="2209680"/>
            <a:ext cx="1828800" cy="990720"/>
          </a:xfrm>
          <a:prstGeom prst="rect">
            <a:avLst/>
          </a:prstGeom>
          <a:solidFill>
            <a:srgbClr val="eded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8074800" y="2419200"/>
            <a:ext cx="25333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11111"/>
                </a:solidFill>
                <a:latin typeface="Calibri"/>
                <a:ea typeface="Calibri"/>
              </a:rPr>
              <a:t>   </a:t>
            </a:r>
            <a:r>
              <a:rPr b="1" lang="en-US" sz="2700" spc="-1" strike="noStrike">
                <a:solidFill>
                  <a:srgbClr val="111111"/>
                </a:solidFill>
                <a:latin typeface="Calibri"/>
                <a:ea typeface="Calibri"/>
              </a:rPr>
              <a:t>JPA + H2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9372600" y="2933640"/>
            <a:ext cx="19807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1143000" y="3886200"/>
            <a:ext cx="69534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11111"/>
                </a:solidFill>
                <a:latin typeface="Calibri"/>
                <a:ea typeface="Calibri"/>
              </a:rPr>
              <a:t>Build and quality tools: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914400" y="4428000"/>
            <a:ext cx="9105480" cy="151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    </a:t>
            </a: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Maven runs the backend build and JUnit tests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    </a:t>
            </a: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JaCoCo is configured for backend coverage reporting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pc="-1" strike="noStrike">
                <a:solidFill>
                  <a:srgbClr val="111111"/>
                </a:solidFill>
                <a:latin typeface="Calibri"/>
                <a:ea typeface="Calibri"/>
              </a:rPr>
              <a:t>     </a:t>
            </a: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ESLint is configured for frontend linting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    </a:t>
            </a: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The frontend API client uses Axios and a configurable base URL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>
            <a:off x="939960" y="324000"/>
            <a:ext cx="914364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80" spc="-1" strike="noStrike">
                <a:solidFill>
                  <a:srgbClr val="111111"/>
                </a:solidFill>
                <a:latin typeface="Calibri"/>
                <a:ea typeface="Calibri"/>
              </a:rPr>
              <a:t>The frontend is organized around user-facing pages</a:t>
            </a:r>
            <a:endParaRPr b="0" lang="en-US" sz="3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399960" y="1162080"/>
            <a:ext cx="85723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11277720" y="6286680"/>
            <a:ext cx="514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555555"/>
                </a:solidFill>
                <a:latin typeface="Calibri"/>
                <a:ea typeface="Calibri"/>
              </a:rPr>
              <a:t>05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914400" y="2152800"/>
            <a:ext cx="1885680" cy="1047600"/>
          </a:xfrm>
          <a:prstGeom prst="rect">
            <a:avLst/>
          </a:prstGeom>
          <a:solidFill>
            <a:srgbClr val="eded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3276720" y="2152800"/>
            <a:ext cx="1752480" cy="1047600"/>
          </a:xfrm>
          <a:prstGeom prst="rect">
            <a:avLst/>
          </a:prstGeom>
          <a:solidFill>
            <a:srgbClr val="eded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5486400" y="2152800"/>
            <a:ext cx="1828800" cy="1047600"/>
          </a:xfrm>
          <a:prstGeom prst="rect">
            <a:avLst/>
          </a:prstGeom>
          <a:solidFill>
            <a:srgbClr val="eded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7772400" y="2152800"/>
            <a:ext cx="1828800" cy="1047600"/>
          </a:xfrm>
          <a:prstGeom prst="rect">
            <a:avLst/>
          </a:prstGeom>
          <a:solidFill>
            <a:srgbClr val="eded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1242720" y="2476440"/>
            <a:ext cx="19047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70" spc="-1" strike="noStrike">
                <a:solidFill>
                  <a:srgbClr val="111111"/>
                </a:solidFill>
                <a:latin typeface="Calibri"/>
                <a:ea typeface="Calibri"/>
              </a:rPr>
              <a:t>SignInPage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3507480" y="2476440"/>
            <a:ext cx="19047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70" spc="-1" strike="noStrike">
                <a:solidFill>
                  <a:srgbClr val="111111"/>
                </a:solidFill>
                <a:latin typeface="Calibri"/>
                <a:ea typeface="Calibri"/>
              </a:rPr>
              <a:t>HomePage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5627880" y="2476440"/>
            <a:ext cx="19047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70" spc="-1" strike="noStrike">
                <a:solidFill>
                  <a:srgbClr val="111111"/>
                </a:solidFill>
                <a:latin typeface="Calibri"/>
                <a:ea typeface="Calibri"/>
              </a:rPr>
              <a:t>CheckoutPage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1371600" y="3886200"/>
            <a:ext cx="9601200" cy="20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8000280" y="2476440"/>
            <a:ext cx="19047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70" spc="-1" strike="noStrike">
                <a:solidFill>
                  <a:srgbClr val="111111"/>
                </a:solidFill>
                <a:latin typeface="Calibri"/>
                <a:ea typeface="Calibri"/>
              </a:rPr>
              <a:t>OrdersPage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914400" y="4454280"/>
            <a:ext cx="10744200" cy="65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frontend stays beginner-friendly because API functions are separate from page components.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939960" y="324000"/>
            <a:ext cx="1125864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80" spc="-1" strike="noStrike">
                <a:solidFill>
                  <a:srgbClr val="111111"/>
                </a:solidFill>
                <a:latin typeface="Calibri"/>
                <a:ea typeface="Calibri"/>
              </a:rPr>
              <a:t>The API client centralizes frontend-backend  communication</a:t>
            </a:r>
            <a:endParaRPr b="0" lang="en-US" sz="3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399960" y="1162080"/>
            <a:ext cx="85723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11277720" y="6286680"/>
            <a:ext cx="514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555555"/>
                </a:solidFill>
                <a:latin typeface="Calibri"/>
                <a:ea typeface="Calibri"/>
              </a:rPr>
              <a:t>06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914400" y="1505160"/>
            <a:ext cx="50292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11111"/>
                </a:solidFill>
                <a:latin typeface="Calibri"/>
                <a:ea typeface="Calibri"/>
              </a:rPr>
              <a:t>Responsibilities in  ecommerceApi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914400" y="2057400"/>
            <a:ext cx="9829800" cy="184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15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430" spc="-1" strike="noStrike">
                <a:solidFill>
                  <a:srgbClr val="111111"/>
                </a:solidFill>
                <a:latin typeface="Calibri"/>
                <a:ea typeface="Calibri"/>
              </a:rPr>
              <a:t>            </a:t>
            </a: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Defines TypeScript types for products, users, carts, orders, and order items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          </a:t>
            </a: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Creates an Axios instance with a base URL from VITE_API_URL or /api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          </a:t>
            </a: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Stores and clears Basic Auth credentials in browser storage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          </a:t>
            </a: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Adds the Authorization header through an Axios request interceptor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          </a:t>
            </a: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Converts backend errors into readable messages for the UI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972000" y="3826800"/>
            <a:ext cx="4971600" cy="16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1" lang="en-US" sz="1950" spc="-1" strike="noStrike">
                <a:solidFill>
                  <a:srgbClr val="111111"/>
                </a:solidFill>
                <a:latin typeface="Calibri"/>
                <a:ea typeface="Calibri"/>
              </a:rPr>
              <a:t>Example API calls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11111"/>
                </a:solidFill>
                <a:latin typeface="Calibri"/>
                <a:ea typeface="Calibri"/>
              </a:rPr>
              <a:t>getProducts() -&gt; /public/products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11111"/>
                </a:solidFill>
                <a:latin typeface="Calibri"/>
                <a:ea typeface="Calibri"/>
              </a:rPr>
              <a:t>getCart(userId) -&gt; /users/{userId}/cart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11111"/>
                </a:solidFill>
                <a:latin typeface="Calibri"/>
                <a:ea typeface="Calibri"/>
              </a:rPr>
              <a:t>addCartItem(...) -&gt; /users/{userId}/cart/items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11111"/>
                </a:solidFill>
                <a:latin typeface="Calibri"/>
                <a:ea typeface="Calibri"/>
              </a:rPr>
              <a:t>checkoutCart(userId) -&gt; /users/{userId}/checkout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11111"/>
                </a:solidFill>
                <a:latin typeface="Calibri"/>
                <a:ea typeface="Calibri"/>
              </a:rPr>
              <a:t>checkoutCart(userId) -&gt; /users/{userId}/checkout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>
            <a:off x="939960" y="324000"/>
            <a:ext cx="914364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80" spc="-1" strike="noStrike">
                <a:solidFill>
                  <a:srgbClr val="111111"/>
                </a:solidFill>
                <a:latin typeface="Calibri"/>
                <a:ea typeface="Calibri"/>
              </a:rPr>
              <a:t>The backend follows a layered structure</a:t>
            </a:r>
            <a:endParaRPr b="0" lang="en-US" sz="3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399960" y="1162080"/>
            <a:ext cx="85723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11277720" y="6286680"/>
            <a:ext cx="514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555555"/>
                </a:solidFill>
                <a:latin typeface="Calibri"/>
                <a:ea typeface="Calibri"/>
              </a:rPr>
              <a:t>07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1600200" y="2133720"/>
            <a:ext cx="8038800" cy="33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111111"/>
                </a:solidFill>
                <a:latin typeface="Calibri"/>
                <a:ea typeface="Calibri"/>
              </a:rPr>
              <a:t>1. Controllers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111111"/>
                </a:solidFill>
                <a:latin typeface="Calibri"/>
                <a:ea typeface="Calibri"/>
              </a:rPr>
              <a:t>2. Services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111111"/>
                </a:solidFill>
                <a:latin typeface="Calibri"/>
                <a:ea typeface="Calibri"/>
              </a:rPr>
              <a:t>3. Repositories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111111"/>
                </a:solidFill>
                <a:latin typeface="Calibri"/>
                <a:ea typeface="Calibri"/>
              </a:rPr>
              <a:t>4. DTOs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111111"/>
                </a:solidFill>
                <a:latin typeface="Calibri"/>
                <a:ea typeface="Calibri"/>
              </a:rPr>
              <a:t>5. Exception handler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1181160" y="2495520"/>
            <a:ext cx="84578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1181160" y="2952720"/>
            <a:ext cx="84578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1181160" y="5772240"/>
            <a:ext cx="84578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"/>
          <p:cNvSpPr/>
          <p:nvPr/>
        </p:nvSpPr>
        <p:spPr>
          <a:xfrm>
            <a:off x="399960" y="324000"/>
            <a:ext cx="914364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80" spc="-1" strike="noStrike">
                <a:solidFill>
                  <a:srgbClr val="111111"/>
                </a:solidFill>
                <a:latin typeface="Calibri"/>
                <a:ea typeface="Calibri"/>
              </a:rPr>
              <a:t>      </a:t>
            </a:r>
            <a:r>
              <a:rPr b="1" lang="en-US" sz="3080" spc="-1" strike="noStrike">
                <a:solidFill>
                  <a:srgbClr val="111111"/>
                </a:solidFill>
                <a:latin typeface="Calibri"/>
                <a:ea typeface="Calibri"/>
              </a:rPr>
              <a:t>The main entities map to ecommerce concepts</a:t>
            </a:r>
            <a:endParaRPr b="0" lang="en-US" sz="3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11277720" y="6286680"/>
            <a:ext cx="514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555555"/>
                </a:solidFill>
                <a:latin typeface="Calibri"/>
                <a:ea typeface="Calibri"/>
              </a:rPr>
              <a:t>08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1143000" y="2209680"/>
            <a:ext cx="3657600" cy="25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20" spc="-1" strike="noStrike">
                <a:solidFill>
                  <a:srgbClr val="111111"/>
                </a:solidFill>
                <a:latin typeface="Calibri"/>
                <a:ea typeface="Calibri"/>
              </a:rPr>
              <a:t>User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20" spc="-1" strike="noStrike">
                <a:solidFill>
                  <a:srgbClr val="111111"/>
                </a:solidFill>
                <a:latin typeface="Calibri"/>
                <a:ea typeface="Calibri"/>
              </a:rPr>
              <a:t>Product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20" spc="-1" strike="noStrike">
                <a:solidFill>
                  <a:srgbClr val="111111"/>
                </a:solidFill>
                <a:latin typeface="Calibri"/>
                <a:ea typeface="Calibri"/>
              </a:rPr>
              <a:t>Cart + CartItem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20" spc="-1" strike="noStrike">
                <a:solidFill>
                  <a:srgbClr val="111111"/>
                </a:solidFill>
                <a:latin typeface="Calibri"/>
                <a:ea typeface="Calibri"/>
              </a:rPr>
              <a:t>Order + OrderItem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/>
          <p:nvPr/>
        </p:nvSpPr>
        <p:spPr>
          <a:xfrm>
            <a:off x="399960" y="324000"/>
            <a:ext cx="914364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80" spc="-1" strike="noStrike">
                <a:solidFill>
                  <a:srgbClr val="111111"/>
                </a:solidFill>
                <a:latin typeface="Calibri"/>
                <a:ea typeface="Calibri"/>
              </a:rPr>
              <a:t>      </a:t>
            </a:r>
            <a:r>
              <a:rPr b="1" lang="en-US" sz="3080" spc="-1" strike="noStrike">
                <a:solidFill>
                  <a:srgbClr val="111111"/>
                </a:solidFill>
                <a:latin typeface="Calibri"/>
                <a:ea typeface="Calibri"/>
              </a:rPr>
              <a:t>Cart behavior protects basic data quality</a:t>
            </a:r>
            <a:endParaRPr b="0" lang="en-US" sz="3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399960" y="1162080"/>
            <a:ext cx="85723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11277720" y="6286680"/>
            <a:ext cx="514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555555"/>
                </a:solidFill>
                <a:latin typeface="Calibri"/>
                <a:ea typeface="Calibri"/>
              </a:rPr>
              <a:t>09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399960" y="1828800"/>
            <a:ext cx="1011564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11111"/>
                </a:solidFill>
                <a:latin typeface="Calibri"/>
                <a:ea typeface="Calibri"/>
              </a:rPr>
              <a:t>                      </a:t>
            </a:r>
            <a:r>
              <a:rPr b="1" lang="en-US" sz="2100" spc="-1" strike="noStrike">
                <a:solidFill>
                  <a:srgbClr val="111111"/>
                </a:solidFill>
                <a:latin typeface="Calibri"/>
                <a:ea typeface="Calibri"/>
              </a:rPr>
              <a:t>What the cart service does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1600200" y="2743200"/>
            <a:ext cx="91440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Creates a cart automatically if the user does not have one yet.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1600200" y="3238560"/>
            <a:ext cx="91440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Checks that quantity is not null and is at least 1.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1619280" y="3734280"/>
            <a:ext cx="105728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Checks that the user and product exist before saving an item</a:t>
            </a:r>
            <a:r>
              <a:rPr b="0" lang="en-US" sz="1500" spc="-1" strike="noStrike">
                <a:solidFill>
                  <a:srgbClr val="111111"/>
                </a:solidFill>
                <a:latin typeface="Calibri"/>
                <a:ea typeface="Calibri"/>
              </a:rPr>
              <a:t>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600200" y="4229280"/>
            <a:ext cx="91440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Adds to an existing cart item when the product is already in the cart.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1600200" y="4724280"/>
            <a:ext cx="93726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Calculates cart totals from item price multiplied by item quantity.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"/>
          <p:cNvSpPr/>
          <p:nvPr/>
        </p:nvSpPr>
        <p:spPr>
          <a:xfrm>
            <a:off x="399960" y="324000"/>
            <a:ext cx="914364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80" spc="-1" strike="noStrike">
                <a:solidFill>
                  <a:srgbClr val="111111"/>
                </a:solidFill>
                <a:latin typeface="Calibri"/>
                <a:ea typeface="Calibri"/>
              </a:rPr>
              <a:t>      </a:t>
            </a:r>
            <a:r>
              <a:rPr b="1" lang="en-US" sz="3080" spc="-1" strike="noStrike">
                <a:solidFill>
                  <a:srgbClr val="111111"/>
                </a:solidFill>
                <a:latin typeface="Calibri"/>
                <a:ea typeface="Calibri"/>
              </a:rPr>
              <a:t>Checkout turns a cart into an order</a:t>
            </a:r>
            <a:endParaRPr b="0" lang="en-US" sz="3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399960" y="1162080"/>
            <a:ext cx="85723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11277720" y="6286680"/>
            <a:ext cx="514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555555"/>
                </a:solidFill>
                <a:latin typeface="Calibri"/>
                <a:ea typeface="Calibri"/>
              </a:rPr>
              <a:t>10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1600200" y="2133720"/>
            <a:ext cx="8229240" cy="33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Find the cart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Reject empty carts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Create a pending order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Move items into the order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Update stock and clear cart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1181160" y="4133880"/>
            <a:ext cx="864828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"/>
          <p:cNvSpPr/>
          <p:nvPr/>
        </p:nvSpPr>
        <p:spPr>
          <a:xfrm>
            <a:off x="399960" y="324000"/>
            <a:ext cx="914364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80" spc="-1" strike="noStrike">
                <a:solidFill>
                  <a:srgbClr val="111111"/>
                </a:solidFill>
                <a:latin typeface="Calibri"/>
                <a:ea typeface="Calibri"/>
              </a:rPr>
              <a:t>      </a:t>
            </a:r>
            <a:r>
              <a:rPr b="1" lang="en-US" sz="3080" spc="-1" strike="noStrike">
                <a:solidFill>
                  <a:srgbClr val="111111"/>
                </a:solidFill>
                <a:latin typeface="Calibri"/>
                <a:ea typeface="Calibri"/>
              </a:rPr>
              <a:t>Order status rules make the workflow safer</a:t>
            </a:r>
            <a:endParaRPr b="0" lang="en-US" sz="3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399960" y="1162080"/>
            <a:ext cx="85723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11277720" y="6286680"/>
            <a:ext cx="514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555555"/>
                </a:solidFill>
                <a:latin typeface="Calibri"/>
                <a:ea typeface="Calibri"/>
              </a:rPr>
              <a:t>11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914400" y="2286000"/>
            <a:ext cx="2286000" cy="1143000"/>
          </a:xfrm>
          <a:prstGeom prst="rect">
            <a:avLst/>
          </a:prstGeom>
          <a:solidFill>
            <a:srgbClr val="eded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4438800" y="2286000"/>
            <a:ext cx="2190600" cy="1143000"/>
          </a:xfrm>
          <a:prstGeom prst="rect">
            <a:avLst/>
          </a:prstGeom>
          <a:solidFill>
            <a:srgbClr val="eded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7787520" y="2190960"/>
            <a:ext cx="2286000" cy="1238040"/>
          </a:xfrm>
          <a:prstGeom prst="rect">
            <a:avLst/>
          </a:prstGeom>
          <a:solidFill>
            <a:srgbClr val="eded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1316880" y="2514600"/>
            <a:ext cx="23810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20" spc="-1" strike="noStrike">
                <a:solidFill>
                  <a:srgbClr val="111111"/>
                </a:solidFill>
                <a:latin typeface="Calibri"/>
                <a:ea typeface="Calibri"/>
              </a:rPr>
              <a:t>Cancellation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704880" y="3086280"/>
            <a:ext cx="2476080" cy="8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4887360" y="2514600"/>
            <a:ext cx="23810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20" spc="-1" strike="noStrike">
                <a:solidFill>
                  <a:srgbClr val="111111"/>
                </a:solidFill>
                <a:latin typeface="Calibri"/>
                <a:ea typeface="Calibri"/>
              </a:rPr>
              <a:t>Deletion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4743360" y="3086280"/>
            <a:ext cx="247608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8314200" y="2514600"/>
            <a:ext cx="23810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20" spc="-1" strike="noStrike">
                <a:solidFill>
                  <a:srgbClr val="111111"/>
                </a:solidFill>
                <a:latin typeface="Calibri"/>
                <a:ea typeface="Calibri"/>
              </a:rPr>
              <a:t>Final states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"/>
          <p:cNvSpPr/>
          <p:nvPr/>
        </p:nvSpPr>
        <p:spPr>
          <a:xfrm>
            <a:off x="399960" y="324000"/>
            <a:ext cx="914364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80" spc="-1" strike="noStrike">
                <a:solidFill>
                  <a:srgbClr val="111111"/>
                </a:solidFill>
                <a:latin typeface="Calibri"/>
                <a:ea typeface="Calibri"/>
              </a:rPr>
              <a:t>      </a:t>
            </a:r>
            <a:r>
              <a:rPr b="1" lang="en-US" sz="3080" spc="-1" strike="noStrike">
                <a:solidFill>
                  <a:srgbClr val="111111"/>
                </a:solidFill>
                <a:latin typeface="Calibri"/>
                <a:ea typeface="Calibri"/>
              </a:rPr>
              <a:t>Security is simple but clear</a:t>
            </a:r>
            <a:endParaRPr b="0" lang="en-US" sz="3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399960" y="1162080"/>
            <a:ext cx="85723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11277720" y="6286680"/>
            <a:ext cx="514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555555"/>
                </a:solidFill>
                <a:latin typeface="Calibri"/>
                <a:ea typeface="Calibri"/>
              </a:rPr>
              <a:t>12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914400" y="2190600"/>
            <a:ext cx="8915400" cy="306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Public routes allow product browsing and user registration.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Authenticated routes protect cart, checkout, order history, and /auth/me.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Admin routes protect user management, product management, and order status changes.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Passwords are encoded with BCrypt before they are saved.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CORS is configured for the frontend URL so the React app can call the backend.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Unauthorized requests return a JSON response instead of an HTML login page.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"/>
          <p:cNvSpPr/>
          <p:nvPr/>
        </p:nvSpPr>
        <p:spPr>
          <a:xfrm>
            <a:off x="399960" y="324000"/>
            <a:ext cx="1103004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80" spc="-1" strike="noStrike">
                <a:solidFill>
                  <a:srgbClr val="111111"/>
                </a:solidFill>
                <a:latin typeface="Calibri"/>
                <a:ea typeface="Calibri"/>
              </a:rPr>
              <a:t>      </a:t>
            </a:r>
            <a:r>
              <a:rPr b="1" lang="en-US" sz="3080" spc="-1" strike="noStrike">
                <a:solidFill>
                  <a:srgbClr val="111111"/>
                </a:solidFill>
                <a:latin typeface="Calibri"/>
                <a:ea typeface="Calibri"/>
              </a:rPr>
              <a:t>Database configuration differs between app runs and tests</a:t>
            </a:r>
            <a:endParaRPr b="0" lang="en-US" sz="3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11277720" y="6286680"/>
            <a:ext cx="514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555555"/>
                </a:solidFill>
                <a:latin typeface="Calibri"/>
                <a:ea typeface="Calibri"/>
              </a:rPr>
              <a:t>13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1143000" y="1600200"/>
            <a:ext cx="7315200" cy="20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11111"/>
                </a:solidFill>
                <a:latin typeface="Calibri"/>
                <a:ea typeface="Calibri"/>
              </a:rPr>
              <a:t> </a:t>
            </a:r>
            <a:r>
              <a:rPr b="1" lang="en-US" sz="2100" spc="-1" strike="noStrike">
                <a:solidFill>
                  <a:srgbClr val="111111"/>
                </a:solidFill>
                <a:latin typeface="Calibri"/>
                <a:ea typeface="Calibri"/>
              </a:rPr>
              <a:t>Normal app run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pc="-1" strike="noStrike">
                <a:solidFill>
                  <a:srgbClr val="111111"/>
                </a:solidFill>
                <a:latin typeface="Calibri"/>
                <a:ea typeface="Calibri"/>
              </a:rPr>
              <a:t>  </a:t>
            </a: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application.properties uses jdbc:h2:</a:t>
            </a: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  <a:hlinkClick r:id="rId1"/>
              </a:rPr>
              <a:t>file:./data/ecommerce</a:t>
            </a: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  </a:t>
            </a: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The file database keeps data between backend restarts.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  </a:t>
            </a: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spring.jpa.hibernate.ddl-auto=update keeps the schema in sync.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1143000" y="3886200"/>
            <a:ext cx="8915400" cy="20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11111"/>
                </a:solidFill>
                <a:latin typeface="Calibri"/>
                <a:ea typeface="Calibri"/>
              </a:rPr>
              <a:t>Test run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500" spc="-1" strike="noStrike">
                <a:solidFill>
                  <a:srgbClr val="111111"/>
                </a:solidFill>
                <a:latin typeface="Calibri"/>
                <a:ea typeface="Calibri"/>
              </a:rPr>
              <a:t> </a:t>
            </a:r>
            <a:r>
              <a:rPr b="0" lang="en-US" sz="1500" spc="-1" strike="noStrike">
                <a:solidFill>
                  <a:srgbClr val="111111"/>
                </a:solidFill>
                <a:latin typeface="Calibri"/>
                <a:ea typeface="Calibri"/>
              </a:rPr>
              <a:t>B</a:t>
            </a: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ackendApplicationTests overrides the datasource to jdbc:h2:mem:ecommerce-test.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 </a:t>
            </a: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The test database exists only while the test JVM is running.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 </a:t>
            </a: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create-drop creates tables for the test and removes them afterward</a:t>
            </a:r>
            <a:r>
              <a:rPr b="0" lang="en-US" sz="1500" spc="-1" strike="noStrike">
                <a:solidFill>
                  <a:srgbClr val="111111"/>
                </a:solidFill>
                <a:latin typeface="Calibri"/>
                <a:ea typeface="Calibri"/>
              </a:rPr>
              <a:t>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"/>
          <p:cNvSpPr/>
          <p:nvPr/>
        </p:nvSpPr>
        <p:spPr>
          <a:xfrm>
            <a:off x="399960" y="324000"/>
            <a:ext cx="914364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80" spc="-1" strike="noStrike">
                <a:solidFill>
                  <a:srgbClr val="111111"/>
                </a:solidFill>
                <a:latin typeface="Calibri"/>
                <a:ea typeface="Calibri"/>
              </a:rPr>
              <a:t>      </a:t>
            </a:r>
            <a:r>
              <a:rPr b="1" lang="en-US" sz="3080" spc="-1" strike="noStrike">
                <a:solidFill>
                  <a:srgbClr val="111111"/>
                </a:solidFill>
                <a:latin typeface="Calibri"/>
                <a:ea typeface="Calibri"/>
              </a:rPr>
              <a:t>Testing covers both small units and full workflows</a:t>
            </a:r>
            <a:endParaRPr b="0" lang="en-US" sz="3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399960" y="1162080"/>
            <a:ext cx="85723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11277720" y="6286680"/>
            <a:ext cx="514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555555"/>
                </a:solidFill>
                <a:latin typeface="Calibri"/>
                <a:ea typeface="Calibri"/>
              </a:rPr>
              <a:t>14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1295280" y="1714680"/>
            <a:ext cx="1447920" cy="1199880"/>
          </a:xfrm>
          <a:prstGeom prst="rect">
            <a:avLst/>
          </a:prstGeom>
          <a:solidFill>
            <a:srgbClr val="eded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1689480" y="1824480"/>
            <a:ext cx="19807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11111"/>
                </a:solidFill>
                <a:latin typeface="Calibri"/>
                <a:ea typeface="Calibri"/>
              </a:rPr>
              <a:t>17   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1329480" y="2518560"/>
            <a:ext cx="19807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555555"/>
                </a:solidFill>
                <a:latin typeface="Calibri"/>
                <a:ea typeface="Calibri"/>
              </a:rPr>
              <a:t>backend tests pass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3276720" y="1714680"/>
            <a:ext cx="1523880" cy="1199880"/>
          </a:xfrm>
          <a:prstGeom prst="rect">
            <a:avLst/>
          </a:prstGeom>
          <a:solidFill>
            <a:srgbClr val="eded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3846240" y="1824480"/>
            <a:ext cx="19807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11111"/>
                </a:solidFill>
                <a:latin typeface="Calibri"/>
                <a:ea typeface="Calibri"/>
              </a:rPr>
              <a:t>3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3486240" y="2518560"/>
            <a:ext cx="19807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555555"/>
                </a:solidFill>
                <a:latin typeface="Calibri"/>
                <a:ea typeface="Calibri"/>
              </a:rPr>
              <a:t>test classes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5210280" y="1714680"/>
            <a:ext cx="1942920" cy="1199880"/>
          </a:xfrm>
          <a:prstGeom prst="rect">
            <a:avLst/>
          </a:prstGeom>
          <a:solidFill>
            <a:srgbClr val="eded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5786640" y="1860480"/>
            <a:ext cx="19807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11111"/>
                </a:solidFill>
                <a:latin typeface="Calibri"/>
                <a:ea typeface="Calibri"/>
              </a:rPr>
              <a:t>12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5265360" y="2395800"/>
            <a:ext cx="19807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555555"/>
                </a:solidFill>
                <a:latin typeface="Calibri"/>
                <a:ea typeface="Calibri"/>
              </a:rPr>
              <a:t>integration tests in BackendApplicationTests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7410600" y="1714680"/>
            <a:ext cx="1733400" cy="1199880"/>
          </a:xfrm>
          <a:prstGeom prst="rect">
            <a:avLst/>
          </a:prstGeom>
          <a:solidFill>
            <a:srgbClr val="eded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8159400" y="1860480"/>
            <a:ext cx="19807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11111"/>
                </a:solidFill>
                <a:latin typeface="Calibri"/>
                <a:ea typeface="Calibri"/>
              </a:rPr>
              <a:t>2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7403400" y="2518560"/>
            <a:ext cx="19807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555555"/>
                </a:solidFill>
                <a:latin typeface="Calibri"/>
                <a:ea typeface="Calibri"/>
              </a:rPr>
              <a:t>Mockito unit test classes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1371600" y="3200400"/>
            <a:ext cx="8229600" cy="32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11111"/>
                </a:solidFill>
                <a:latin typeface="Calibri"/>
                <a:ea typeface="Calibri"/>
              </a:rPr>
              <a:t>Important tested behavior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User creation hashes passwords and does not expose plain text passwords.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Product create, update, read, and delete behavior works.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Cart add, update, remove, clear, and validation rules work.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Checkout creates orders, reduces stock, and clears the cart.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Cancelling or deleting eligible orders restores stock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Controllers return expected HTTP statuses.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"/>
          <p:cNvSpPr/>
          <p:nvPr/>
        </p:nvSpPr>
        <p:spPr>
          <a:xfrm>
            <a:off x="399960" y="324000"/>
            <a:ext cx="1125864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80" spc="-1" strike="noStrike">
                <a:solidFill>
                  <a:srgbClr val="111111"/>
                </a:solidFill>
                <a:latin typeface="Calibri"/>
                <a:ea typeface="Calibri"/>
              </a:rPr>
              <a:t>      </a:t>
            </a:r>
            <a:r>
              <a:rPr b="1" lang="en-US" sz="3080" spc="-1" strike="noStrike">
                <a:solidFill>
                  <a:srgbClr val="111111"/>
                </a:solidFill>
                <a:latin typeface="Calibri"/>
                <a:ea typeface="Calibri"/>
              </a:rPr>
              <a:t>The project shows error handling and validation</a:t>
            </a:r>
            <a:endParaRPr b="0" lang="en-US" sz="3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11277720" y="6286680"/>
            <a:ext cx="514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555555"/>
                </a:solidFill>
                <a:latin typeface="Calibri"/>
                <a:ea typeface="Calibri"/>
              </a:rPr>
              <a:t>15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1143000" y="1371600"/>
            <a:ext cx="8458200" cy="251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11111"/>
                </a:solidFill>
                <a:latin typeface="Calibri"/>
                <a:ea typeface="Calibri"/>
              </a:rPr>
              <a:t>Backend error handling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Validation errors return HTTP 400 with field-level messages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Missing records return HTTP 404 through ResourceNotFoundException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Business rule failures return HTTP 400 through APIException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Invalid URL parameter types return a clear bad-request message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1199880" y="3886200"/>
            <a:ext cx="9143640" cy="251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11111"/>
                </a:solidFill>
                <a:latin typeface="Calibri"/>
                <a:ea typeface="Calibri"/>
              </a:rPr>
              <a:t>Frontend error handling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The API client extracts backend response messages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Pages show readable fallback messages if the backend does not return one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Failed authentication clears stored credentials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111111"/>
              </a:buClr>
              <a:buSzPct val="50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Debug info helps understand login or API-base-url problems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"/>
          <p:cNvSpPr/>
          <p:nvPr/>
        </p:nvSpPr>
        <p:spPr>
          <a:xfrm>
            <a:off x="399960" y="324000"/>
            <a:ext cx="914364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80" spc="-1" strike="noStrike">
                <a:solidFill>
                  <a:srgbClr val="111111"/>
                </a:solidFill>
                <a:latin typeface="Calibri"/>
                <a:ea typeface="Calibri"/>
              </a:rPr>
              <a:t>      </a:t>
            </a:r>
            <a:r>
              <a:rPr b="1" lang="en-US" sz="3080" spc="-1" strike="noStrike">
                <a:solidFill>
                  <a:srgbClr val="111111"/>
                </a:solidFill>
                <a:latin typeface="Calibri"/>
                <a:ea typeface="Calibri"/>
              </a:rPr>
              <a:t>Final takeaway</a:t>
            </a:r>
            <a:endParaRPr b="0" lang="en-US" sz="3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11277720" y="6286680"/>
            <a:ext cx="514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555555"/>
                </a:solidFill>
                <a:latin typeface="Calibri"/>
                <a:ea typeface="Calibri"/>
              </a:rPr>
              <a:t>18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914400" y="2171880"/>
            <a:ext cx="10058400" cy="78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11111"/>
                </a:solidFill>
                <a:latin typeface="Calibri"/>
                <a:ea typeface="Calibri"/>
              </a:rPr>
              <a:t>EcommerceShop project shows that I can build and explain a complete full stack project.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399960" y="3352680"/>
            <a:ext cx="9334080" cy="70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20" spc="-1" strike="noStrike">
                <a:solidFill>
                  <a:srgbClr val="555555"/>
                </a:solidFill>
                <a:latin typeface="Calibri"/>
                <a:ea typeface="Calibri"/>
              </a:rPr>
              <a:t>.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"/>
          <p:cNvSpPr/>
          <p:nvPr/>
        </p:nvSpPr>
        <p:spPr>
          <a:xfrm>
            <a:off x="399960" y="324000"/>
            <a:ext cx="914364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80" spc="-1" strike="noStrike">
                <a:solidFill>
                  <a:srgbClr val="111111"/>
                </a:solidFill>
                <a:latin typeface="Calibri"/>
                <a:ea typeface="Calibri"/>
              </a:rPr>
              <a:t>What I would improve next</a:t>
            </a:r>
            <a:endParaRPr b="0" lang="en-US" sz="3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399960" y="1162080"/>
            <a:ext cx="85723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555555"/>
                </a:solidFill>
                <a:latin typeface="Calibri"/>
                <a:ea typeface="Calibri"/>
              </a:rPr>
              <a:t>This slide helps position the project honestly and shows that I can think beyond the first version.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399960" y="1676520"/>
            <a:ext cx="11391480" cy="1872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11277720" y="6286680"/>
            <a:ext cx="514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555555"/>
                </a:solidFill>
                <a:latin typeface="Calibri"/>
                <a:ea typeface="Calibri"/>
              </a:rPr>
              <a:t>16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399960" y="2152800"/>
            <a:ext cx="2476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11111"/>
                </a:solidFill>
                <a:latin typeface="Calibri"/>
                <a:ea typeface="Calibri"/>
              </a:rPr>
              <a:t>Frontend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399960" y="2705040"/>
            <a:ext cx="40953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11111"/>
                </a:solidFill>
                <a:latin typeface="Calibri"/>
                <a:ea typeface="Calibri"/>
              </a:rPr>
              <a:t>- Add component tests for pages and forms.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399960" y="3219480"/>
            <a:ext cx="40953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11111"/>
                </a:solidFill>
                <a:latin typeface="Calibri"/>
                <a:ea typeface="Calibri"/>
              </a:rPr>
              <a:t>- Add end-to-end tests for login, add-to-cart, and checkout.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399960" y="3733920"/>
            <a:ext cx="40953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11111"/>
                </a:solidFill>
                <a:latin typeface="Calibri"/>
                <a:ea typeface="Calibri"/>
              </a:rPr>
              <a:t>- Improve loading, empty, and error states.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6191280" y="2152800"/>
            <a:ext cx="2476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111111"/>
                </a:solidFill>
                <a:latin typeface="Calibri"/>
                <a:ea typeface="Calibri"/>
              </a:rPr>
              <a:t>Backend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6191280" y="2705040"/>
            <a:ext cx="44762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11111"/>
                </a:solidFill>
                <a:latin typeface="Calibri"/>
                <a:ea typeface="Calibri"/>
              </a:rPr>
              <a:t>- Use JWT or session authentication instead of Basic Auth.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6191280" y="3219480"/>
            <a:ext cx="44762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11111"/>
                </a:solidFill>
                <a:latin typeface="Calibri"/>
                <a:ea typeface="Calibri"/>
              </a:rPr>
              <a:t>- Add pagination and search/filter endpoints.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6191280" y="3733920"/>
            <a:ext cx="44762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11111"/>
                </a:solidFill>
                <a:latin typeface="Calibri"/>
                <a:ea typeface="Calibri"/>
              </a:rPr>
              <a:t>- Add transactional boundaries around checkout.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6191280" y="4248000"/>
            <a:ext cx="44762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11111"/>
                </a:solidFill>
                <a:latin typeface="Calibri"/>
                <a:ea typeface="Calibri"/>
              </a:rPr>
              <a:t>- Add admin UI support for products and orders.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399960" y="5600880"/>
            <a:ext cx="24760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Interview phrasing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3048120" y="5581800"/>
            <a:ext cx="761976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555555"/>
                </a:solidFill>
                <a:latin typeface="Calibri"/>
                <a:ea typeface="Calibri"/>
              </a:rPr>
              <a:t>The current version proves I understand the main flow. The next version would focus on production concerns and better user/admin workflows.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"/>
          <p:cNvSpPr/>
          <p:nvPr/>
        </p:nvSpPr>
        <p:spPr>
          <a:xfrm>
            <a:off x="399960" y="324000"/>
            <a:ext cx="914364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80" spc="-1" strike="noStrike">
                <a:solidFill>
                  <a:srgbClr val="111111"/>
                </a:solidFill>
                <a:latin typeface="Calibri"/>
                <a:ea typeface="Calibri"/>
              </a:rPr>
              <a:t>How I would present it live</a:t>
            </a:r>
            <a:endParaRPr b="0" lang="en-US" sz="3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399960" y="1162080"/>
            <a:ext cx="85723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555555"/>
                </a:solidFill>
                <a:latin typeface="Calibri"/>
                <a:ea typeface="Calibri"/>
              </a:rPr>
              <a:t>A short demo path makes the project easier for an employer to follow.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399960" y="1676520"/>
            <a:ext cx="11391480" cy="18720"/>
          </a:xfrm>
          <a:prstGeom prst="rect">
            <a:avLst/>
          </a:prstGeom>
          <a:solidFill>
            <a:srgbClr val="b8bc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11277720" y="6286680"/>
            <a:ext cx="514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555555"/>
                </a:solidFill>
                <a:latin typeface="Calibri"/>
                <a:ea typeface="Calibri"/>
              </a:rPr>
              <a:t>17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399960" y="2133720"/>
            <a:ext cx="6472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250" spc="-1" strike="noStrike">
                <a:solidFill>
                  <a:srgbClr val="1f7a8c"/>
                </a:solidFill>
                <a:latin typeface="Calibri"/>
                <a:ea typeface="Calibri"/>
              </a:rPr>
              <a:t>01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1181160" y="2133720"/>
            <a:ext cx="85532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Start with the customer story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1181160" y="2495520"/>
            <a:ext cx="85532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55555"/>
                </a:solidFill>
                <a:latin typeface="Calibri"/>
                <a:ea typeface="Calibri"/>
              </a:rPr>
              <a:t>Explain that the app supports registration, browsing, cart, checkout, and orders.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399960" y="2952720"/>
            <a:ext cx="6472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250" spc="-1" strike="noStrike">
                <a:solidFill>
                  <a:srgbClr val="1f7a8c"/>
                </a:solidFill>
                <a:latin typeface="Calibri"/>
                <a:ea typeface="Calibri"/>
              </a:rPr>
              <a:t>02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1181160" y="2952720"/>
            <a:ext cx="85532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Show the frontend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1181160" y="3314880"/>
            <a:ext cx="85532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55555"/>
                </a:solidFill>
                <a:latin typeface="Calibri"/>
                <a:ea typeface="Calibri"/>
              </a:rPr>
              <a:t>Open the catalog, add a product, go to checkout, and place an order.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399960" y="3772080"/>
            <a:ext cx="6472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250" spc="-1" strike="noStrike">
                <a:solidFill>
                  <a:srgbClr val="1f7a8c"/>
                </a:solidFill>
                <a:latin typeface="Calibri"/>
                <a:ea typeface="Calibri"/>
              </a:rPr>
              <a:t>03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1181160" y="3772080"/>
            <a:ext cx="85532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Show the backend structure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1181160" y="4133880"/>
            <a:ext cx="85532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55555"/>
                </a:solidFill>
                <a:latin typeface="Calibri"/>
                <a:ea typeface="Calibri"/>
              </a:rPr>
              <a:t>Point to controllers, services, repositories, DTOs, models, and security config.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399960" y="4591080"/>
            <a:ext cx="6472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250" spc="-1" strike="noStrike">
                <a:solidFill>
                  <a:srgbClr val="1f7a8c"/>
                </a:solidFill>
                <a:latin typeface="Calibri"/>
                <a:ea typeface="Calibri"/>
              </a:rPr>
              <a:t>04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1181160" y="4591080"/>
            <a:ext cx="85532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Show one important test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1181160" y="4952880"/>
            <a:ext cx="85532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55555"/>
                </a:solidFill>
                <a:latin typeface="Calibri"/>
                <a:ea typeface="Calibri"/>
              </a:rPr>
              <a:t>Use the password-hashing test or checkout test to explain how behavior is verified.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399960" y="5410080"/>
            <a:ext cx="6472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250" spc="-1" strike="noStrike">
                <a:solidFill>
                  <a:srgbClr val="1f7a8c"/>
                </a:solidFill>
                <a:latin typeface="Calibri"/>
                <a:ea typeface="Calibri"/>
              </a:rPr>
              <a:t>05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1181160" y="5410080"/>
            <a:ext cx="85532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11111"/>
                </a:solidFill>
                <a:latin typeface="Calibri"/>
                <a:ea typeface="Calibri"/>
              </a:rPr>
              <a:t>Close with next steps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1181160" y="5772240"/>
            <a:ext cx="85532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55555"/>
                </a:solidFill>
                <a:latin typeface="Calibri"/>
                <a:ea typeface="Calibri"/>
              </a:rPr>
              <a:t>Explain what you would improve if this became a production application.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997</TotalTime>
  <Application>MtscOffice/7.4.2.3$Windows_X86_64 LibreOffice_project/382eef1f22670f7f4118c8c2dd222ec7ad009daf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2026-08-04T19:50:18Z</dcterms:created>
  <dc:creator>Walnut Exporter</dc:creator>
  <dc:description/>
  <dc:language>en-US</dc:language>
  <cp:lastModifiedBy/>
  <dcterms:modified xsi:type="dcterms:W3CDTF">2026-08-05T14:28:55Z</dcterms:modified>
  <cp:revision>1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